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146304"/>
          </a:xfrm>
          <a:prstGeom prst="rect">
            <a:avLst/>
          </a:prstGeom>
          <a:solidFill>
            <a:srgbClr val="2AAAD4"/>
          </a:solidFill>
          <a:ln/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146304"/>
          </a:xfrm>
          <a:prstGeom prst="rect">
            <a:avLst/>
          </a:prstGeom>
          <a:solidFill>
            <a:srgbClr val="57A93C"/>
          </a:solidFill>
          <a:ln/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146304"/>
          </a:xfrm>
          <a:prstGeom prst="rect">
            <a:avLst/>
          </a:prstGeom>
          <a:solidFill>
            <a:srgbClr val="F2C1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234440"/>
            <a:ext cx="64008" cy="64008"/>
          </a:xfrm>
          <a:prstGeom prst="ellipse">
            <a:avLst/>
          </a:prstGeom>
          <a:solidFill>
            <a:srgbClr val="2AAAD4"/>
          </a:solidFill>
          <a:ln w="12700">
            <a:solidFill>
              <a:srgbClr val="2AAA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1234440"/>
            <a:ext cx="64008" cy="64008"/>
          </a:xfrm>
          <a:prstGeom prst="ellipse">
            <a:avLst/>
          </a:prstGeom>
          <a:solidFill>
            <a:srgbClr val="57A93C"/>
          </a:solidFill>
          <a:ln w="12700">
            <a:solidFill>
              <a:srgbClr val="57A9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234440"/>
            <a:ext cx="64008" cy="64008"/>
          </a:xfrm>
          <a:prstGeom prst="ellipse">
            <a:avLst/>
          </a:prstGeom>
          <a:solidFill>
            <a:srgbClr val="F2C12E"/>
          </a:solidFill>
          <a:ln w="12700">
            <a:solidFill>
              <a:srgbClr val="F2C1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AA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VIVID SOLUTIONS &amp; SERVICES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Doing More with Every Agent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intelligent automation lightens the contact-centre workload —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human agents handle less busywork and deliver more value.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4526280"/>
            <a:ext cx="1280160" cy="64008"/>
          </a:xfrm>
          <a:prstGeom prst="rect">
            <a:avLst/>
          </a:prstGeom>
          <a:solidFill>
            <a:srgbClr val="2AAAD4"/>
          </a:solidFill>
          <a:ln/>
        </p:spPr>
      </p:sp>
      <p:sp>
        <p:nvSpPr>
          <p:cNvPr id="12" name="Shape 10"/>
          <p:cNvSpPr/>
          <p:nvPr/>
        </p:nvSpPr>
        <p:spPr>
          <a:xfrm>
            <a:off x="2103120" y="4526280"/>
            <a:ext cx="1280160" cy="64008"/>
          </a:xfrm>
          <a:prstGeom prst="rect">
            <a:avLst/>
          </a:prstGeom>
          <a:solidFill>
            <a:srgbClr val="57A93C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4526280"/>
            <a:ext cx="1280160" cy="64008"/>
          </a:xfrm>
          <a:prstGeom prst="rect">
            <a:avLst/>
          </a:prstGeom>
          <a:solidFill>
            <a:srgbClr val="F2C1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Operations Platform · CRM · Contact Centre · Sales</a:t>
            </a:r>
            <a:pPr indent="0" marL="0">
              <a:buNone/>
            </a:pPr>
            <a:r>
              <a:rPr lang="en-US" sz="1300" b="1" dirty="0">
                <a:solidFill>
                  <a:srgbClr val="57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22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AAAD4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20624"/>
            <a:ext cx="64008" cy="64008"/>
          </a:xfrm>
          <a:prstGeom prst="ellipse">
            <a:avLst/>
          </a:prstGeom>
          <a:solidFill>
            <a:srgbClr val="2AAAD4"/>
          </a:solidFill>
          <a:ln w="12700">
            <a:solidFill>
              <a:srgbClr val="2AAA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420624"/>
            <a:ext cx="64008" cy="64008"/>
          </a:xfrm>
          <a:prstGeom prst="ellipse">
            <a:avLst/>
          </a:prstGeom>
          <a:solidFill>
            <a:srgbClr val="57A93C"/>
          </a:solidFill>
          <a:ln w="12700">
            <a:solidFill>
              <a:srgbClr val="57A9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420624"/>
            <a:ext cx="64008" cy="64008"/>
          </a:xfrm>
          <a:prstGeom prst="ellipse">
            <a:avLst/>
          </a:prstGeom>
          <a:solidFill>
            <a:srgbClr val="F2C12E"/>
          </a:solidFill>
          <a:ln w="12700">
            <a:solidFill>
              <a:srgbClr val="F2C1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Call-centre teams are drowning in repetitive work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still starts the same way — greeting, identifying the caller, working out what they need, then manually logging and routing it. That is time agents do not spend actually helping customers.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E9F6FB"/>
          </a:solidFill>
          <a:ln w="12700">
            <a:solidFill>
              <a:srgbClr val="2AA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9748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A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 agent’s time goes on triage, data entry and routing — not resolution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15968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EDF6E7"/>
          </a:solidFill>
          <a:ln w="12700">
            <a:solidFill>
              <a:srgbClr val="57A9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269748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7A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90288" y="370332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build while callers repeat their details to multiple people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83296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CF4DC"/>
          </a:solidFill>
          <a:ln w="12700">
            <a:solidFill>
              <a:srgbClr val="C887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74736" y="269748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87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Missed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357616" y="370332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 and lost sales leads when hand-offs fall through the cracks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57A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opportunity:  remove the busywork, and the same team can handle more — and handle it better.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Vivid Solutions &amp; Services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AAAD4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20624"/>
            <a:ext cx="64008" cy="64008"/>
          </a:xfrm>
          <a:prstGeom prst="ellipse">
            <a:avLst/>
          </a:prstGeom>
          <a:solidFill>
            <a:srgbClr val="2AAAD4"/>
          </a:solidFill>
          <a:ln w="12700">
            <a:solidFill>
              <a:srgbClr val="2AAA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420624"/>
            <a:ext cx="64008" cy="64008"/>
          </a:xfrm>
          <a:prstGeom prst="ellipse">
            <a:avLst/>
          </a:prstGeom>
          <a:solidFill>
            <a:srgbClr val="57A93C"/>
          </a:solidFill>
          <a:ln w="12700">
            <a:solidFill>
              <a:srgbClr val="57A9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420624"/>
            <a:ext cx="64008" cy="64008"/>
          </a:xfrm>
          <a:prstGeom prst="ellipse">
            <a:avLst/>
          </a:prstGeom>
          <a:solidFill>
            <a:srgbClr val="F2C12E"/>
          </a:solidFill>
          <a:ln w="12700">
            <a:solidFill>
              <a:srgbClr val="F2C1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platform that takes the load off agents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C5D6DF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8308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2AAAD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331720"/>
            <a:ext cx="2606040" cy="274320"/>
          </a:xfrm>
          <a:prstGeom prst="rect">
            <a:avLst/>
          </a:prstGeom>
          <a:solidFill>
            <a:srgbClr val="2AAAD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288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85800" y="27432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voice agent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" y="3291840"/>
            <a:ext cx="22128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“Nadia” greets every caller, understands the need and logs it automatically.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64992" y="17830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C5D6DF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64992" y="178308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57A93C"/>
          </a:solidFill>
          <a:ln/>
        </p:spPr>
      </p:sp>
      <p:sp>
        <p:nvSpPr>
          <p:cNvPr id="16" name="Shape 14"/>
          <p:cNvSpPr/>
          <p:nvPr/>
        </p:nvSpPr>
        <p:spPr>
          <a:xfrm>
            <a:off x="3364992" y="2331720"/>
            <a:ext cx="2606040" cy="274320"/>
          </a:xfrm>
          <a:prstGeom prst="rect">
            <a:avLst/>
          </a:prstGeom>
          <a:solidFill>
            <a:srgbClr val="57A93C"/>
          </a:solidFill>
          <a:ln/>
        </p:spPr>
      </p:sp>
      <p:sp>
        <p:nvSpPr>
          <p:cNvPr id="17" name="Text 15"/>
          <p:cNvSpPr/>
          <p:nvPr/>
        </p:nvSpPr>
        <p:spPr>
          <a:xfrm>
            <a:off x="3364992" y="18288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🧭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502152" y="27432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routing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66160" y="3291840"/>
            <a:ext cx="22128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reach the right team instantly, by predefined rules — no manual sorting.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81344" y="17830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C5D6DF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178308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0F6E8C"/>
          </a:solidFill>
          <a:ln/>
        </p:spPr>
      </p:sp>
      <p:sp>
        <p:nvSpPr>
          <p:cNvPr id="22" name="Shape 20"/>
          <p:cNvSpPr/>
          <p:nvPr/>
        </p:nvSpPr>
        <p:spPr>
          <a:xfrm>
            <a:off x="6181344" y="2331720"/>
            <a:ext cx="2606040" cy="27432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23" name="Text 21"/>
          <p:cNvSpPr/>
          <p:nvPr/>
        </p:nvSpPr>
        <p:spPr>
          <a:xfrm>
            <a:off x="6181344" y="18288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⏱️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318504" y="27432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 on autopilot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82512" y="3291840"/>
            <a:ext cx="22128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timers, reminders and escalations run themselves before any breach.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997696" y="17830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C5D6DF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997696" y="178308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C8870E"/>
          </a:solidFill>
          <a:ln/>
        </p:spPr>
      </p:sp>
      <p:sp>
        <p:nvSpPr>
          <p:cNvPr id="28" name="Shape 26"/>
          <p:cNvSpPr/>
          <p:nvPr/>
        </p:nvSpPr>
        <p:spPr>
          <a:xfrm>
            <a:off x="8997696" y="2331720"/>
            <a:ext cx="2606040" cy="274320"/>
          </a:xfrm>
          <a:prstGeom prst="rect">
            <a:avLst/>
          </a:prstGeom>
          <a:solidFill>
            <a:srgbClr val="C8870E"/>
          </a:solidFill>
          <a:ln/>
        </p:spPr>
      </p:sp>
      <p:sp>
        <p:nvSpPr>
          <p:cNvPr id="29" name="Text 27"/>
          <p:cNvSpPr/>
          <p:nvPr/>
        </p:nvSpPr>
        <p:spPr>
          <a:xfrm>
            <a:off x="8997696" y="18288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134856" y="27432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captured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98864" y="3291840"/>
            <a:ext cx="22128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Promising enquiries convert to pipeline deals in one click — nothing slips.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result: agents stop sorting and typing, and start resolving and selling.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Vivid Solutions &amp; Services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AAAD4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20624"/>
            <a:ext cx="64008" cy="64008"/>
          </a:xfrm>
          <a:prstGeom prst="ellipse">
            <a:avLst/>
          </a:prstGeom>
          <a:solidFill>
            <a:srgbClr val="2AAAD4"/>
          </a:solidFill>
          <a:ln w="12700">
            <a:solidFill>
              <a:srgbClr val="2AAA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420624"/>
            <a:ext cx="64008" cy="64008"/>
          </a:xfrm>
          <a:prstGeom prst="ellipse">
            <a:avLst/>
          </a:prstGeom>
          <a:solidFill>
            <a:srgbClr val="57A93C"/>
          </a:solidFill>
          <a:ln w="12700">
            <a:solidFill>
              <a:srgbClr val="57A9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420624"/>
            <a:ext cx="64008" cy="64008"/>
          </a:xfrm>
          <a:prstGeom prst="ellipse">
            <a:avLst/>
          </a:prstGeom>
          <a:solidFill>
            <a:srgbClr val="F2C12E"/>
          </a:solidFill>
          <a:ln w="12700">
            <a:solidFill>
              <a:srgbClr val="F2C1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· 1 OF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call to the right team — automatically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  <a:effectLst>
            <a:outerShdw sx="100000" sy="100000" kx="0" ky="0" algn="bl" rotWithShape="0" blurRad="63500" dist="25400" dir="5400000">
              <a:srgbClr val="BBD0DA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828800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📞  Customer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calls 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2608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29000" y="1828800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2AAAD4"/>
          </a:solidFill>
          <a:ln w="12700">
            <a:solidFill>
              <a:srgbClr val="2AAAD4"/>
            </a:solidFill>
            <a:prstDash val="solid"/>
          </a:ln>
          <a:effectLst>
            <a:outerShdw sx="100000" sy="100000" kx="0" ky="0" algn="bl" rotWithShape="0" blurRad="63500" dist="25400" dir="5400000">
              <a:srgbClr val="BBD0DA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02152" y="1828800"/>
            <a:ext cx="2505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Voice bot “Nadia”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greets &amp; listens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7220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75120" y="1828800"/>
            <a:ext cx="2743200" cy="914400"/>
          </a:xfrm>
          <a:prstGeom prst="roundRect">
            <a:avLst>
              <a:gd name="adj" fmla="val 9000"/>
            </a:avLst>
          </a:prstGeom>
          <a:solidFill>
            <a:srgbClr val="57A93C"/>
          </a:solidFill>
          <a:ln w="12700">
            <a:solidFill>
              <a:srgbClr val="57A93C"/>
            </a:solidFill>
            <a:prstDash val="solid"/>
          </a:ln>
          <a:effectLst>
            <a:outerShdw sx="100000" sy="100000" kx="0" ky="0" algn="bl" rotWithShape="0" blurRad="63500" dist="25400" dir="5400000">
              <a:srgbClr val="BBD0DA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48272" y="1828800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Understands the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customer’s requirement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0" y="27614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7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5216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creates the right record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280160" y="342900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  <a:effectLst>
            <a:outerShdw sx="100000" sy="100000" kx="0" ky="0" algn="bl" rotWithShape="0" blurRad="63500" dist="25400" dir="5400000">
              <a:srgbClr val="BBD0DA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53312" y="3429000"/>
            <a:ext cx="26883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Complaint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ticket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342900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2AAAD4"/>
          </a:solidFill>
          <a:ln w="12700">
            <a:solidFill>
              <a:srgbClr val="2AAAD4"/>
            </a:solidFill>
            <a:prstDash val="solid"/>
          </a:ln>
          <a:effectLst>
            <a:outerShdw sx="100000" sy="100000" kx="0" ky="0" algn="bl" rotWithShape="0" blurRad="63500" dist="25400" dir="5400000">
              <a:srgbClr val="BBD0DA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36592" y="3429000"/>
            <a:ext cx="26883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🎧  Support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ticket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46720" y="342900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57A93C"/>
          </a:solidFill>
          <a:ln w="12700">
            <a:solidFill>
              <a:srgbClr val="57A93C"/>
            </a:solidFill>
            <a:prstDash val="solid"/>
          </a:ln>
          <a:effectLst>
            <a:outerShdw sx="100000" sy="100000" kx="0" ky="0" algn="bl" rotWithShape="0" blurRad="63500" dist="25400" dir="5400000">
              <a:srgbClr val="BBD0DA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19872" y="3429000"/>
            <a:ext cx="26883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💼  Sales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ticket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606040" y="43616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89320" y="43616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72600" y="43616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108960" y="4892040"/>
            <a:ext cx="5943600" cy="868680"/>
          </a:xfrm>
          <a:prstGeom prst="roundRect">
            <a:avLst>
              <a:gd name="adj" fmla="val 9474"/>
            </a:avLst>
          </a:prstGeom>
          <a:solidFill>
            <a:srgbClr val="2AAAD4"/>
          </a:solidFill>
          <a:ln w="12700">
            <a:solidFill>
              <a:srgbClr val="2AAAD4"/>
            </a:solidFill>
            <a:prstDash val="solid"/>
          </a:ln>
          <a:effectLst>
            <a:outerShdw sx="100000" sy="100000" kx="0" ky="0" algn="bl" rotWithShape="0" blurRad="63500" dist="25400" dir="5400000">
              <a:srgbClr val="BBD0DA">
                <a:alpha val="5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182112" y="4892040"/>
            <a:ext cx="57972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🧭  Smart routing → sent to the relevant team by predefined criteria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(skills, queue, capacity)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7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has lifted a finger yet — the call is greeted, understood, logged and routed on its own.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Vivid Solutions &amp; Services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AAAD4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20624"/>
            <a:ext cx="64008" cy="64008"/>
          </a:xfrm>
          <a:prstGeom prst="ellipse">
            <a:avLst/>
          </a:prstGeom>
          <a:solidFill>
            <a:srgbClr val="2AAAD4"/>
          </a:solidFill>
          <a:ln w="12700">
            <a:solidFill>
              <a:srgbClr val="2AAA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420624"/>
            <a:ext cx="64008" cy="64008"/>
          </a:xfrm>
          <a:prstGeom prst="ellipse">
            <a:avLst/>
          </a:prstGeom>
          <a:solidFill>
            <a:srgbClr val="57A93C"/>
          </a:solidFill>
          <a:ln w="12700">
            <a:solidFill>
              <a:srgbClr val="57A9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420624"/>
            <a:ext cx="64008" cy="64008"/>
          </a:xfrm>
          <a:prstGeom prst="ellipse">
            <a:avLst/>
          </a:prstGeom>
          <a:solidFill>
            <a:srgbClr val="F2C12E"/>
          </a:solidFill>
          <a:ln w="12700">
            <a:solidFill>
              <a:srgbClr val="F2C1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· 2 OF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ticket runs to a deadline — and never lets it slip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9050">
            <a:solidFill>
              <a:srgbClr val="57A93C"/>
            </a:solidFill>
            <a:prstDash val="solid"/>
          </a:ln>
          <a:effectLst>
            <a:outerShdw sx="100000" sy="100000" kx="0" ky="0" algn="bl" rotWithShape="0" blurRad="63500" dist="25400" dir="5400000">
              <a:srgbClr val="C5D6DF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11680"/>
            <a:ext cx="2084832" cy="566928"/>
          </a:xfrm>
          <a:prstGeom prst="roundRect">
            <a:avLst>
              <a:gd name="adj" fmla="val 16129"/>
            </a:avLst>
          </a:prstGeom>
          <a:solidFill>
            <a:srgbClr val="57A93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304288"/>
            <a:ext cx="2084832" cy="274320"/>
          </a:xfrm>
          <a:prstGeom prst="rect">
            <a:avLst/>
          </a:prstGeom>
          <a:solidFill>
            <a:srgbClr val="57A93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84832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70048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accepts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" y="370332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 / SLA clock starts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15184" y="288036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7A93C"/>
                </a:solidFill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34640" y="201168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9050">
            <a:solidFill>
              <a:srgbClr val="2AAAD4"/>
            </a:solidFill>
            <a:prstDash val="solid"/>
          </a:ln>
          <a:effectLst>
            <a:outerShdw sx="100000" sy="100000" kx="0" ky="0" algn="bl" rotWithShape="0" blurRad="63500" dist="25400" dir="5400000">
              <a:srgbClr val="C5D6DF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834640" y="2011680"/>
            <a:ext cx="2084832" cy="566928"/>
          </a:xfrm>
          <a:prstGeom prst="roundRect">
            <a:avLst>
              <a:gd name="adj" fmla="val 16129"/>
            </a:avLst>
          </a:prstGeom>
          <a:solidFill>
            <a:srgbClr val="2AAAD4"/>
          </a:solidFill>
          <a:ln/>
        </p:spPr>
      </p:sp>
      <p:sp>
        <p:nvSpPr>
          <p:cNvPr id="18" name="Shape 16"/>
          <p:cNvSpPr/>
          <p:nvPr/>
        </p:nvSpPr>
        <p:spPr>
          <a:xfrm>
            <a:off x="2834640" y="2304288"/>
            <a:ext cx="2084832" cy="274320"/>
          </a:xfrm>
          <a:prstGeom prst="rect">
            <a:avLst/>
          </a:prstGeom>
          <a:solidFill>
            <a:srgbClr val="2AAAD4"/>
          </a:solidFill>
          <a:ln/>
        </p:spPr>
      </p:sp>
      <p:sp>
        <p:nvSpPr>
          <p:cNvPr id="19" name="Text 17"/>
          <p:cNvSpPr/>
          <p:nvPr/>
        </p:nvSpPr>
        <p:spPr>
          <a:xfrm>
            <a:off x="2834640" y="2084832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2670048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926080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944368" y="370332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through stages &amp; milestones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01184" y="288036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AAD4"/>
                </a:solidFill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20640" y="201168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9050">
            <a:solidFill>
              <a:srgbClr val="0F6E8C"/>
            </a:solidFill>
            <a:prstDash val="solid"/>
          </a:ln>
          <a:effectLst>
            <a:outerShdw sx="100000" sy="100000" kx="0" ky="0" algn="bl" rotWithShape="0" blurRad="63500" dist="25400" dir="5400000">
              <a:srgbClr val="C5D6DF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20640" y="2011680"/>
            <a:ext cx="2084832" cy="566928"/>
          </a:xfrm>
          <a:prstGeom prst="roundRect">
            <a:avLst>
              <a:gd name="adj" fmla="val 16129"/>
            </a:avLst>
          </a:prstGeom>
          <a:solidFill>
            <a:srgbClr val="0F6E8C"/>
          </a:solidFill>
          <a:ln/>
        </p:spPr>
      </p:sp>
      <p:sp>
        <p:nvSpPr>
          <p:cNvPr id="26" name="Shape 24"/>
          <p:cNvSpPr/>
          <p:nvPr/>
        </p:nvSpPr>
        <p:spPr>
          <a:xfrm>
            <a:off x="5120640" y="2304288"/>
            <a:ext cx="2084832" cy="27432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2084832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2670048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🔔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212080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Interval alerts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230368" y="370332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at set checkpoints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187184" y="288036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6E8C"/>
                </a:solidFill>
              </a:rPr>
              <a:t>▶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06640" y="201168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9050">
            <a:solidFill>
              <a:srgbClr val="F2C12E"/>
            </a:solidFill>
            <a:prstDash val="solid"/>
          </a:ln>
          <a:effectLst>
            <a:outerShdw sx="100000" sy="100000" kx="0" ky="0" algn="bl" rotWithShape="0" blurRad="63500" dist="25400" dir="5400000">
              <a:srgbClr val="C5D6DF">
                <a:alpha val="5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06640" y="2011680"/>
            <a:ext cx="2084832" cy="566928"/>
          </a:xfrm>
          <a:prstGeom prst="roundRect">
            <a:avLst>
              <a:gd name="adj" fmla="val 16129"/>
            </a:avLst>
          </a:prstGeom>
          <a:solidFill>
            <a:srgbClr val="F2C12E"/>
          </a:solidFill>
          <a:ln/>
        </p:spPr>
      </p:sp>
      <p:sp>
        <p:nvSpPr>
          <p:cNvPr id="34" name="Shape 32"/>
          <p:cNvSpPr/>
          <p:nvPr/>
        </p:nvSpPr>
        <p:spPr>
          <a:xfrm>
            <a:off x="7406640" y="2304288"/>
            <a:ext cx="2084832" cy="274320"/>
          </a:xfrm>
          <a:prstGeom prst="rect">
            <a:avLst/>
          </a:prstGeom>
          <a:solidFill>
            <a:srgbClr val="F2C12E"/>
          </a:solidFill>
          <a:ln/>
        </p:spPr>
      </p:sp>
      <p:sp>
        <p:nvSpPr>
          <p:cNvPr id="35" name="Text 33"/>
          <p:cNvSpPr/>
          <p:nvPr/>
        </p:nvSpPr>
        <p:spPr>
          <a:xfrm>
            <a:off x="7406640" y="2084832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A4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06640" y="2670048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498080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Auto-escalate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516368" y="370332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deadline is breached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473184" y="288036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C12E"/>
                </a:solidFill>
              </a:rPr>
              <a:t>▶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692640" y="201168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9050">
            <a:solidFill>
              <a:srgbClr val="57A93C"/>
            </a:solidFill>
            <a:prstDash val="solid"/>
          </a:ln>
          <a:effectLst>
            <a:outerShdw sx="100000" sy="100000" kx="0" ky="0" algn="bl" rotWithShape="0" blurRad="63500" dist="25400" dir="5400000">
              <a:srgbClr val="C5D6DF">
                <a:alpha val="5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692640" y="2011680"/>
            <a:ext cx="2084832" cy="566928"/>
          </a:xfrm>
          <a:prstGeom prst="roundRect">
            <a:avLst>
              <a:gd name="adj" fmla="val 16129"/>
            </a:avLst>
          </a:prstGeom>
          <a:solidFill>
            <a:srgbClr val="57A93C"/>
          </a:solidFill>
          <a:ln/>
        </p:spPr>
      </p:sp>
      <p:sp>
        <p:nvSpPr>
          <p:cNvPr id="42" name="Shape 40"/>
          <p:cNvSpPr/>
          <p:nvPr/>
        </p:nvSpPr>
        <p:spPr>
          <a:xfrm>
            <a:off x="9692640" y="2304288"/>
            <a:ext cx="2084832" cy="274320"/>
          </a:xfrm>
          <a:prstGeom prst="rect">
            <a:avLst/>
          </a:prstGeom>
          <a:solidFill>
            <a:srgbClr val="57A93C"/>
          </a:solidFill>
          <a:ln/>
        </p:spPr>
      </p:sp>
      <p:sp>
        <p:nvSpPr>
          <p:cNvPr id="43" name="Text 41"/>
          <p:cNvSpPr/>
          <p:nvPr/>
        </p:nvSpPr>
        <p:spPr>
          <a:xfrm>
            <a:off x="9692640" y="2084832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92640" y="2670048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🎉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9784080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Resolved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9802368" y="370332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informed + CSAT survey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48640" y="48006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9F6FB"/>
          </a:solidFill>
          <a:ln w="12700">
            <a:solidFill>
              <a:srgbClr val="2AAA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48920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Turnaround promise, kept automatically.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timer, the reminders and the escalation all run by themselves — agents are nudged in time, managers see breaches coming, and the customer is told the moment it’s done.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Vivid Solutions &amp; Services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AAAD4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20624"/>
            <a:ext cx="64008" cy="64008"/>
          </a:xfrm>
          <a:prstGeom prst="ellipse">
            <a:avLst/>
          </a:prstGeom>
          <a:solidFill>
            <a:srgbClr val="2AAAD4"/>
          </a:solidFill>
          <a:ln w="12700">
            <a:solidFill>
              <a:srgbClr val="2AAA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420624"/>
            <a:ext cx="64008" cy="64008"/>
          </a:xfrm>
          <a:prstGeom prst="ellipse">
            <a:avLst/>
          </a:prstGeom>
          <a:solidFill>
            <a:srgbClr val="57A93C"/>
          </a:solidFill>
          <a:ln w="12700">
            <a:solidFill>
              <a:srgbClr val="57A9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420624"/>
            <a:ext cx="64008" cy="64008"/>
          </a:xfrm>
          <a:prstGeom prst="ellipse">
            <a:avLst/>
          </a:prstGeom>
          <a:solidFill>
            <a:srgbClr val="F2C12E"/>
          </a:solidFill>
          <a:ln w="12700">
            <a:solidFill>
              <a:srgbClr val="F2C1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· 3 OF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Spotted a real opportunity? It flows straight to sales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57A93C"/>
          </a:solidFill>
          <a:ln w="12700">
            <a:solidFill>
              <a:srgbClr val="57A93C"/>
            </a:solidFill>
            <a:prstDash val="solid"/>
          </a:ln>
          <a:effectLst>
            <a:outerShdw sx="100000" sy="100000" kx="0" ky="0" algn="bl" rotWithShape="0" blurRad="63500" dist="25400" dir="5400000">
              <a:srgbClr val="BBD0DA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2194560"/>
            <a:ext cx="23225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💼  Sales ticket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accepted by agent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08960" y="24871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7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11880" y="2194560"/>
            <a:ext cx="2743200" cy="960120"/>
          </a:xfrm>
          <a:prstGeom prst="roundRect">
            <a:avLst>
              <a:gd name="adj" fmla="val 8571"/>
            </a:avLst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  <a:effectLst>
            <a:outerShdw sx="100000" sy="100000" kx="0" ky="0" algn="bl" rotWithShape="0" blurRad="63500" dist="25400" dir="5400000">
              <a:srgbClr val="BBD0DA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85032" y="2194560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🔎  Agent sees genuine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 in the enquiry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24871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7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49440" y="2194560"/>
            <a:ext cx="2743200" cy="960120"/>
          </a:xfrm>
          <a:prstGeom prst="roundRect">
            <a:avLst>
              <a:gd name="adj" fmla="val 8571"/>
            </a:avLst>
          </a:prstGeom>
          <a:solidFill>
            <a:srgbClr val="2AAAD4"/>
          </a:solidFill>
          <a:ln w="12700">
            <a:solidFill>
              <a:srgbClr val="2AAAD4"/>
            </a:solidFill>
            <a:prstDash val="solid"/>
          </a:ln>
          <a:effectLst>
            <a:outerShdw sx="100000" sy="100000" kx="0" ky="0" algn="bl" rotWithShape="0" blurRad="63500" dist="25400" dir="5400000">
              <a:srgbClr val="BBD0DA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22592" y="2194560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One click: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“Convert to Deal”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0" y="31729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7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17520" y="3977640"/>
            <a:ext cx="6126480" cy="914400"/>
          </a:xfrm>
          <a:prstGeom prst="roundRect">
            <a:avLst>
              <a:gd name="adj" fmla="val 9000"/>
            </a:avLst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  <a:effectLst>
            <a:outerShdw sx="100000" sy="100000" kx="0" ky="0" algn="bl" rotWithShape="0" blurRad="63500" dist="25400" dir="5400000">
              <a:srgbClr val="BBD0DA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90672" y="3977640"/>
            <a:ext cx="5980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Deal enters the sales pipeline — owned, valued and forecastable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46120" y="5074920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E9F6FB"/>
          </a:solidFill>
          <a:ln w="12700">
            <a:solidFill>
              <a:srgbClr val="2AAA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507492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0" y="507492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B83"/>
                </a:solidFill>
              </a:rPr>
              <a:t>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27448" y="5074920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E9F6FB"/>
          </a:solidFill>
          <a:ln w="12700">
            <a:solidFill>
              <a:srgbClr val="2AAA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507492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Qualified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53328" y="507492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B83"/>
                </a:solidFill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08776" y="5074920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E9F6FB"/>
          </a:solidFill>
          <a:ln w="12700">
            <a:solidFill>
              <a:srgbClr val="2AAA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8776" y="507492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Proposal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34656" y="507492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B83"/>
                </a:solidFill>
              </a:rPr>
              <a:t>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90104" y="5074920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F2C12E"/>
          </a:solidFill>
          <a:ln w="12700">
            <a:solidFill>
              <a:srgbClr val="F2C1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90104" y="507492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A4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7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lost between “support call” and “sales opportunity” — the hand-off is instant and tracked.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Vivid Solutions &amp; Services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AAAD4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20624"/>
            <a:ext cx="64008" cy="64008"/>
          </a:xfrm>
          <a:prstGeom prst="ellipse">
            <a:avLst/>
          </a:prstGeom>
          <a:solidFill>
            <a:srgbClr val="2AAAD4"/>
          </a:solidFill>
          <a:ln w="12700">
            <a:solidFill>
              <a:srgbClr val="2AAA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420624"/>
            <a:ext cx="64008" cy="64008"/>
          </a:xfrm>
          <a:prstGeom prst="ellipse">
            <a:avLst/>
          </a:prstGeom>
          <a:solidFill>
            <a:srgbClr val="57A93C"/>
          </a:solidFill>
          <a:ln w="12700">
            <a:solidFill>
              <a:srgbClr val="57A9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420624"/>
            <a:ext cx="64008" cy="64008"/>
          </a:xfrm>
          <a:prstGeom prst="ellipse">
            <a:avLst/>
          </a:prstGeom>
          <a:solidFill>
            <a:srgbClr val="F2C12E"/>
          </a:solidFill>
          <a:ln w="12700">
            <a:solidFill>
              <a:srgbClr val="F2C1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THE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Secure, multi-tenant sign-in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93776" y="1545336"/>
            <a:ext cx="6967728" cy="4395978"/>
          </a:xfrm>
          <a:prstGeom prst="roundRect">
            <a:avLst>
              <a:gd name="adj" fmla="val 1248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114300" dist="38100" dir="5400000">
              <a:srgbClr val="B6C7D2">
                <a:alpha val="55000"/>
              </a:srgbClr>
            </a:outerShdw>
          </a:effectLst>
        </p:spPr>
      </p:sp>
      <p:pic>
        <p:nvPicPr>
          <p:cNvPr id="9" name="Image 0" descr="/tmp/shot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858000" cy="42862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26680" y="1691640"/>
            <a:ext cx="3886200" cy="4206240"/>
          </a:xfrm>
          <a:prstGeom prst="roundRect">
            <a:avLst>
              <a:gd name="adj" fmla="val 2353"/>
            </a:avLst>
          </a:prstGeom>
          <a:solidFill>
            <a:srgbClr val="E9F6FB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26680" y="1691640"/>
            <a:ext cx="118872" cy="4206240"/>
          </a:xfrm>
          <a:prstGeom prst="roundRect">
            <a:avLst/>
          </a:prstGeom>
          <a:solidFill>
            <a:srgbClr val="2AAAD4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196596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front door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46720" y="2788920"/>
            <a:ext cx="3337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 organisation gets its own isolated, secure workspace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login per workspace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decides exactly what each person sees once inside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Vivid Solutions &amp; Services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AAAD4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20624"/>
            <a:ext cx="64008" cy="64008"/>
          </a:xfrm>
          <a:prstGeom prst="ellipse">
            <a:avLst/>
          </a:prstGeom>
          <a:solidFill>
            <a:srgbClr val="2AAAD4"/>
          </a:solidFill>
          <a:ln w="12700">
            <a:solidFill>
              <a:srgbClr val="2AAA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420624"/>
            <a:ext cx="64008" cy="64008"/>
          </a:xfrm>
          <a:prstGeom prst="ellipse">
            <a:avLst/>
          </a:prstGeom>
          <a:solidFill>
            <a:srgbClr val="57A93C"/>
          </a:solidFill>
          <a:ln w="12700">
            <a:solidFill>
              <a:srgbClr val="57A9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420624"/>
            <a:ext cx="64008" cy="64008"/>
          </a:xfrm>
          <a:prstGeom prst="ellipse">
            <a:avLst/>
          </a:prstGeom>
          <a:solidFill>
            <a:srgbClr val="F2C12E"/>
          </a:solidFill>
          <a:ln w="12700">
            <a:solidFill>
              <a:srgbClr val="F2C1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THE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unified customer record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93776" y="1545336"/>
            <a:ext cx="6967728" cy="4395978"/>
          </a:xfrm>
          <a:prstGeom prst="roundRect">
            <a:avLst>
              <a:gd name="adj" fmla="val 1248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114300" dist="38100" dir="5400000">
              <a:srgbClr val="B6C7D2">
                <a:alpha val="55000"/>
              </a:srgbClr>
            </a:outerShdw>
          </a:effectLst>
        </p:spPr>
      </p:sp>
      <p:pic>
        <p:nvPicPr>
          <p:cNvPr id="9" name="Image 0" descr="/tmp/shot-conta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858000" cy="42862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26680" y="1691640"/>
            <a:ext cx="3886200" cy="4206240"/>
          </a:xfrm>
          <a:prstGeom prst="roundRect">
            <a:avLst>
              <a:gd name="adj" fmla="val 2353"/>
            </a:avLst>
          </a:prstGeom>
          <a:solidFill>
            <a:srgbClr val="E9F6FB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26680" y="1691640"/>
            <a:ext cx="118872" cy="4206240"/>
          </a:xfrm>
          <a:prstGeom prst="roundRect">
            <a:avLst/>
          </a:prstGeom>
          <a:solidFill>
            <a:srgbClr val="2AAAD4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196596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caller, in context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46720" y="2788920"/>
            <a:ext cx="3337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(here “Account Holders”) with status &amp; source at a glance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instantly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deals and history tied to the same person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Vivid Solutions &amp; Services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AAAD4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20624"/>
            <a:ext cx="64008" cy="64008"/>
          </a:xfrm>
          <a:prstGeom prst="ellipse">
            <a:avLst/>
          </a:prstGeom>
          <a:solidFill>
            <a:srgbClr val="2AAAD4"/>
          </a:solidFill>
          <a:ln w="12700">
            <a:solidFill>
              <a:srgbClr val="2AAA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420624"/>
            <a:ext cx="64008" cy="64008"/>
          </a:xfrm>
          <a:prstGeom prst="ellipse">
            <a:avLst/>
          </a:prstGeom>
          <a:solidFill>
            <a:srgbClr val="57A93C"/>
          </a:solidFill>
          <a:ln w="12700">
            <a:solidFill>
              <a:srgbClr val="57A9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420624"/>
            <a:ext cx="64008" cy="64008"/>
          </a:xfrm>
          <a:prstGeom prst="ellipse">
            <a:avLst/>
          </a:prstGeom>
          <a:solidFill>
            <a:srgbClr val="F2C12E"/>
          </a:solidFill>
          <a:ln w="12700">
            <a:solidFill>
              <a:srgbClr val="F2C1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THE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Companies &amp; accounts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93776" y="1545336"/>
            <a:ext cx="6967728" cy="4395978"/>
          </a:xfrm>
          <a:prstGeom prst="roundRect">
            <a:avLst>
              <a:gd name="adj" fmla="val 1248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114300" dist="38100" dir="5400000">
              <a:srgbClr val="B6C7D2">
                <a:alpha val="55000"/>
              </a:srgbClr>
            </a:outerShdw>
          </a:effectLst>
        </p:spPr>
      </p:sp>
      <p:pic>
        <p:nvPicPr>
          <p:cNvPr id="9" name="Image 0" descr="/tmp/shot-compan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858000" cy="42862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26680" y="1691640"/>
            <a:ext cx="3886200" cy="4206240"/>
          </a:xfrm>
          <a:prstGeom prst="roundRect">
            <a:avLst>
              <a:gd name="adj" fmla="val 2353"/>
            </a:avLst>
          </a:prstGeom>
          <a:solidFill>
            <a:srgbClr val="E9F6FB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26680" y="1691640"/>
            <a:ext cx="118872" cy="4206240"/>
          </a:xfrm>
          <a:prstGeom prst="roundRect">
            <a:avLst/>
          </a:prstGeom>
          <a:solidFill>
            <a:srgbClr val="2AAAD4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196596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bigger picture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46720" y="2788920"/>
            <a:ext cx="3337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linked to their people and deals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Sector-aware fields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relationship view, not scattered spreadsheets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Vivid Solutions &amp; Services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AAAD4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20624"/>
            <a:ext cx="64008" cy="64008"/>
          </a:xfrm>
          <a:prstGeom prst="ellipse">
            <a:avLst/>
          </a:prstGeom>
          <a:solidFill>
            <a:srgbClr val="2AAAD4"/>
          </a:solidFill>
          <a:ln w="12700">
            <a:solidFill>
              <a:srgbClr val="2AAA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420624"/>
            <a:ext cx="64008" cy="64008"/>
          </a:xfrm>
          <a:prstGeom prst="ellipse">
            <a:avLst/>
          </a:prstGeom>
          <a:solidFill>
            <a:srgbClr val="57A93C"/>
          </a:solidFill>
          <a:ln w="12700">
            <a:solidFill>
              <a:srgbClr val="57A9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420624"/>
            <a:ext cx="64008" cy="64008"/>
          </a:xfrm>
          <a:prstGeom prst="ellipse">
            <a:avLst/>
          </a:prstGeom>
          <a:solidFill>
            <a:srgbClr val="F2C12E"/>
          </a:solidFill>
          <a:ln w="12700">
            <a:solidFill>
              <a:srgbClr val="F2C1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THE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Fast, guided data capture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93776" y="1545336"/>
            <a:ext cx="6967728" cy="4395978"/>
          </a:xfrm>
          <a:prstGeom prst="roundRect">
            <a:avLst>
              <a:gd name="adj" fmla="val 1248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114300" dist="38100" dir="5400000">
              <a:srgbClr val="B6C7D2">
                <a:alpha val="55000"/>
              </a:srgbClr>
            </a:outerShdw>
          </a:effectLst>
        </p:spPr>
      </p:sp>
      <p:pic>
        <p:nvPicPr>
          <p:cNvPr id="9" name="Image 0" descr="/tmp/shot-contact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858000" cy="42862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26680" y="1691640"/>
            <a:ext cx="3886200" cy="4206240"/>
          </a:xfrm>
          <a:prstGeom prst="roundRect">
            <a:avLst>
              <a:gd name="adj" fmla="val 2353"/>
            </a:avLst>
          </a:prstGeom>
          <a:solidFill>
            <a:srgbClr val="E9F6FB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26680" y="1691640"/>
            <a:ext cx="118872" cy="4206240"/>
          </a:xfrm>
          <a:prstGeom prst="roundRect">
            <a:avLst/>
          </a:prstGeom>
          <a:solidFill>
            <a:srgbClr val="2AAAD4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196596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 once, cleanly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46720" y="2788920"/>
            <a:ext cx="3337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Sector-specific form (banking shown) with the right fields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enforce data quality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bot captures lands here automatically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Vivid Solutions &amp; Services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AAAD4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20624"/>
            <a:ext cx="64008" cy="64008"/>
          </a:xfrm>
          <a:prstGeom prst="ellipse">
            <a:avLst/>
          </a:prstGeom>
          <a:solidFill>
            <a:srgbClr val="2AAAD4"/>
          </a:solidFill>
          <a:ln w="12700">
            <a:solidFill>
              <a:srgbClr val="2AAA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420624"/>
            <a:ext cx="64008" cy="64008"/>
          </a:xfrm>
          <a:prstGeom prst="ellipse">
            <a:avLst/>
          </a:prstGeom>
          <a:solidFill>
            <a:srgbClr val="57A93C"/>
          </a:solidFill>
          <a:ln w="12700">
            <a:solidFill>
              <a:srgbClr val="57A9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420624"/>
            <a:ext cx="64008" cy="64008"/>
          </a:xfrm>
          <a:prstGeom prst="ellipse">
            <a:avLst/>
          </a:prstGeom>
          <a:solidFill>
            <a:srgbClr val="F2C12E"/>
          </a:solidFill>
          <a:ln w="12700">
            <a:solidFill>
              <a:srgbClr val="F2C1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THE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visibility for managers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93776" y="1545336"/>
            <a:ext cx="6967728" cy="4395978"/>
          </a:xfrm>
          <a:prstGeom prst="roundRect">
            <a:avLst>
              <a:gd name="adj" fmla="val 1248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114300" dist="38100" dir="5400000">
              <a:srgbClr val="B6C7D2">
                <a:alpha val="55000"/>
              </a:srgbClr>
            </a:outerShdw>
          </a:effectLst>
        </p:spPr>
      </p:sp>
      <p:pic>
        <p:nvPicPr>
          <p:cNvPr id="9" name="Image 0" descr="/tmp/shot-sales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858000" cy="42862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26680" y="1691640"/>
            <a:ext cx="3886200" cy="4206240"/>
          </a:xfrm>
          <a:prstGeom prst="roundRect">
            <a:avLst>
              <a:gd name="adj" fmla="val 2353"/>
            </a:avLst>
          </a:prstGeom>
          <a:solidFill>
            <a:srgbClr val="E9F6FB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26680" y="1691640"/>
            <a:ext cx="118872" cy="4206240"/>
          </a:xfrm>
          <a:prstGeom prst="roundRect">
            <a:avLst/>
          </a:prstGeom>
          <a:solidFill>
            <a:srgbClr val="2AAAD4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196596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at a glance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46720" y="2788920"/>
            <a:ext cx="3337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Receivables, collections and invoice status live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 and ageing surfaced automatically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manager sees only their own team’s numbers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Vivid Solutions &amp; Services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146304"/>
          </a:xfrm>
          <a:prstGeom prst="rect">
            <a:avLst/>
          </a:prstGeom>
          <a:solidFill>
            <a:srgbClr val="2AAAD4"/>
          </a:solidFill>
          <a:ln/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146304"/>
          </a:xfrm>
          <a:prstGeom prst="rect">
            <a:avLst/>
          </a:prstGeom>
          <a:solidFill>
            <a:srgbClr val="57A93C"/>
          </a:solidFill>
          <a:ln/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146304"/>
          </a:xfrm>
          <a:prstGeom prst="rect">
            <a:avLst/>
          </a:prstGeom>
          <a:solidFill>
            <a:srgbClr val="F2C12E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457200"/>
            <a:ext cx="64008" cy="64008"/>
          </a:xfrm>
          <a:prstGeom prst="ellipse">
            <a:avLst/>
          </a:prstGeom>
          <a:solidFill>
            <a:srgbClr val="2AAAD4"/>
          </a:solidFill>
          <a:ln w="12700">
            <a:solidFill>
              <a:srgbClr val="2AAA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457200"/>
            <a:ext cx="64008" cy="64008"/>
          </a:xfrm>
          <a:prstGeom prst="ellipse">
            <a:avLst/>
          </a:prstGeom>
          <a:solidFill>
            <a:srgbClr val="57A93C"/>
          </a:solidFill>
          <a:ln w="12700">
            <a:solidFill>
              <a:srgbClr val="57A9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457200"/>
            <a:ext cx="64008" cy="64008"/>
          </a:xfrm>
          <a:prstGeom prst="ellipse">
            <a:avLst/>
          </a:prstGeom>
          <a:solidFill>
            <a:srgbClr val="F2C12E"/>
          </a:solidFill>
          <a:ln w="12700">
            <a:solidFill>
              <a:srgbClr val="F2C1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A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PAYOFF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 busywork. More delivered.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7FBFD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63500" dist="25400" dir="5400000">
              <a:srgbClr val="C5D6DF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691640"/>
            <a:ext cx="118872" cy="1783080"/>
          </a:xfrm>
          <a:prstGeom prst="roundRect">
            <a:avLst/>
          </a:prstGeom>
          <a:solidFill>
            <a:srgbClr val="2AAAD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focus on people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" y="237744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Greeting, triage, logging and routing are automated — agents spend their time resolving and selling.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7FBFD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63500" dist="25400" dir="5400000">
              <a:srgbClr val="C5D6DF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691640"/>
            <a:ext cx="118872" cy="1783080"/>
          </a:xfrm>
          <a:prstGeom prst="roundRect">
            <a:avLst/>
          </a:prstGeom>
          <a:solidFill>
            <a:srgbClr val="57A9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Faster, kept promises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92240" y="237744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timers, reminders and escalations run themselves, so deadlines are met without manual chasing.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7FBFD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63500" dist="25400" dir="5400000">
              <a:srgbClr val="C5D6DF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703320"/>
            <a:ext cx="118872" cy="1783080"/>
          </a:xfrm>
          <a:prstGeom prst="roundRect">
            <a:avLst/>
          </a:prstGeom>
          <a:solidFill>
            <a:srgbClr val="0F6E8C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886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lost opportunities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8680" y="438912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enquiries convert to pipeline deals instantly — and managers see exactly what’s in play.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172200" y="370332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7FBFD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63500" dist="25400" dir="5400000">
              <a:srgbClr val="C5D6DF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3703320"/>
            <a:ext cx="118872" cy="1783080"/>
          </a:xfrm>
          <a:prstGeom prst="roundRect">
            <a:avLst/>
          </a:prstGeom>
          <a:solidFill>
            <a:srgbClr val="C8870E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886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team, more output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92240" y="438912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repetitive load lets the existing team handle more volume, with better quality.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57A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does the repetitive work — your people do the work that matters.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146304"/>
          </a:xfrm>
          <a:prstGeom prst="rect">
            <a:avLst/>
          </a:prstGeom>
          <a:solidFill>
            <a:srgbClr val="2AAAD4"/>
          </a:solidFill>
          <a:ln/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146304"/>
          </a:xfrm>
          <a:prstGeom prst="rect">
            <a:avLst/>
          </a:prstGeom>
          <a:solidFill>
            <a:srgbClr val="57A93C"/>
          </a:solidFill>
          <a:ln/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146304"/>
          </a:xfrm>
          <a:prstGeom prst="rect">
            <a:avLst/>
          </a:prstGeom>
          <a:solidFill>
            <a:srgbClr val="F2C12E"/>
          </a:solidFill>
          <a:ln/>
        </p:spPr>
      </p:sp>
      <p:sp>
        <p:nvSpPr>
          <p:cNvPr id="5" name="Shape 3"/>
          <p:cNvSpPr/>
          <p:nvPr/>
        </p:nvSpPr>
        <p:spPr>
          <a:xfrm>
            <a:off x="5349240" y="1874520"/>
            <a:ext cx="64008" cy="64008"/>
          </a:xfrm>
          <a:prstGeom prst="ellipse">
            <a:avLst/>
          </a:prstGeom>
          <a:solidFill>
            <a:srgbClr val="2AAAD4"/>
          </a:solidFill>
          <a:ln w="12700">
            <a:solidFill>
              <a:srgbClr val="2AAA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95544" y="1874520"/>
            <a:ext cx="64008" cy="64008"/>
          </a:xfrm>
          <a:prstGeom prst="ellipse">
            <a:avLst/>
          </a:prstGeom>
          <a:solidFill>
            <a:srgbClr val="57A93C"/>
          </a:solidFill>
          <a:ln w="12700">
            <a:solidFill>
              <a:srgbClr val="57A9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41848" y="1874520"/>
            <a:ext cx="64008" cy="64008"/>
          </a:xfrm>
          <a:prstGeom prst="ellipse">
            <a:avLst/>
          </a:prstGeom>
          <a:solidFill>
            <a:srgbClr val="F2C12E"/>
          </a:solidFill>
          <a:ln w="12700">
            <a:solidFill>
              <a:srgbClr val="F2C1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to let every agent deliver more.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68680" y="3383280"/>
            <a:ext cx="1097280" cy="64008"/>
          </a:xfrm>
          <a:prstGeom prst="rect">
            <a:avLst/>
          </a:prstGeom>
          <a:solidFill>
            <a:srgbClr val="2AAAD4"/>
          </a:solidFill>
          <a:ln/>
        </p:spPr>
      </p:sp>
      <p:sp>
        <p:nvSpPr>
          <p:cNvPr id="10" name="Shape 8"/>
          <p:cNvSpPr/>
          <p:nvPr/>
        </p:nvSpPr>
        <p:spPr>
          <a:xfrm>
            <a:off x="1965960" y="3383280"/>
            <a:ext cx="1097280" cy="64008"/>
          </a:xfrm>
          <a:prstGeom prst="rect">
            <a:avLst/>
          </a:prstGeom>
          <a:solidFill>
            <a:srgbClr val="57A93C"/>
          </a:solidFill>
          <a:ln/>
        </p:spPr>
      </p:sp>
      <p:sp>
        <p:nvSpPr>
          <p:cNvPr id="11" name="Shape 9"/>
          <p:cNvSpPr/>
          <p:nvPr/>
        </p:nvSpPr>
        <p:spPr>
          <a:xfrm>
            <a:off x="3063240" y="3383280"/>
            <a:ext cx="1097280" cy="64008"/>
          </a:xfrm>
          <a:prstGeom prst="rect">
            <a:avLst/>
          </a:prstGeom>
          <a:solidFill>
            <a:srgbClr val="F2C12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Operations Platform  ·  CRM · Contact Centre · Sales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A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Vivid Solutions &amp; Services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2026-06-22T23:45:38Z</dcterms:created>
  <dcterms:modified xsi:type="dcterms:W3CDTF">2026-06-22T23:45:38Z</dcterms:modified>
</cp:coreProperties>
</file>